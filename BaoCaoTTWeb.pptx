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06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855357"/>
            <a:ext cx="669940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Hệ thống Quản lý Thư viện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391144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Thực hiện bằng React + Express + PostgreSQL.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4037" y="4584144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Một nền tảng quản lý thư viện toàn diện cho phép đọc sách online và mượn/trả sách giấy. Hệ thống được xây dựng với hỗ trợ</a:t>
            </a:r>
            <a:r>
              <a:rPr lang="en-US" sz="190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UTF8 cho tiếng Việt, nhằm phục vụ mục tiêu là đồ án với triển khai cục bộ trên Windows.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7606" y="680204"/>
            <a:ext cx="5381744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Vấn đề &amp; Mục tiêu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7606" y="1449705"/>
            <a:ext cx="3228975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Bài toán hiện tại 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7606" y="2216587"/>
            <a:ext cx="12935188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Quy trình thủ công, dữ liệu rời rạc, lỗi dấu, thiếu phân quyền/đăng nhập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7606" y="2967276"/>
            <a:ext cx="3228975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mục tiêu: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47606" y="3734157"/>
            <a:ext cx="6346508" cy="1786533"/>
          </a:xfrm>
          <a:prstGeom prst="roundRect">
            <a:avLst>
              <a:gd name="adj" fmla="val 20334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2639" y="3999190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Mục tiêu cụ thể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2639" y="4480798"/>
            <a:ext cx="5816441" cy="77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Nền tảng đọc sách online tích hợp với quy trình mượn/trả bản in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6287" y="3734157"/>
            <a:ext cx="6346508" cy="1786533"/>
          </a:xfrm>
          <a:prstGeom prst="roundRect">
            <a:avLst>
              <a:gd name="adj" fmla="val 20334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01320" y="3999190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Phân quyền rõ ràng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01320" y="4480798"/>
            <a:ext cx="5816441" cy="77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user ( Độc giả) /vip (Người dùng trả phí) /admin (Quản lý)</a:t>
            </a: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7606" y="5762863"/>
            <a:ext cx="6346508" cy="1786533"/>
          </a:xfrm>
          <a:prstGeom prst="roundRect">
            <a:avLst>
              <a:gd name="adj" fmla="val 20334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2639" y="6027896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Upload an toàn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12639" y="6509504"/>
            <a:ext cx="5816441" cy="77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TXT/PDF/DOC/DOCX với giới hạn dung lượngvà phục vụ nội dung an toàn.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36287" y="5762863"/>
            <a:ext cx="6346508" cy="1786533"/>
          </a:xfrm>
          <a:prstGeom prst="roundRect">
            <a:avLst>
              <a:gd name="adj" fmla="val 20334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01320" y="6027896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Tài liệu đầy đủ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01320" y="6509504"/>
            <a:ext cx="5816441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Cung cấp API REST + Swagger, PowerShell script, psql.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6760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Phạm vi &amp; Vai trò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552105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Chức năng chính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4037" y="3333869"/>
            <a:ext cx="6327696" cy="1440656"/>
          </a:xfrm>
          <a:prstGeom prst="roundRect">
            <a:avLst>
              <a:gd name="adj" fmla="val 25706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1333" y="361116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Guest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1333" y="4102179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Đăng ký/đăng nhập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38549" y="3333869"/>
            <a:ext cx="6327815" cy="1440656"/>
          </a:xfrm>
          <a:prstGeom prst="roundRect">
            <a:avLst>
              <a:gd name="adj" fmla="val 25706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15845" y="361116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User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15845" y="4102179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Mượn/trả, Danh sách yêu thích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4037" y="5021342"/>
            <a:ext cx="6327696" cy="1440656"/>
          </a:xfrm>
          <a:prstGeom prst="roundRect">
            <a:avLst>
              <a:gd name="adj" fmla="val 25706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1333" y="52986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VIP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1333" y="5789652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User + đọc onlie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8549" y="5021342"/>
            <a:ext cx="6327815" cy="1440656"/>
          </a:xfrm>
          <a:prstGeom prst="roundRect">
            <a:avLst>
              <a:gd name="adj" fmla="val 25706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15845" y="52986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Admin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15845" y="5789652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Quản trị sách/người dùng/vai trò, thống kê, Đọc online.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099" y="620792"/>
            <a:ext cx="6131481" cy="627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Kiến trúc tổng thể (3 tầng)</a:t>
            </a:r>
            <a:endParaRPr lang="en-US"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0099" y="1789628"/>
            <a:ext cx="73377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[ React/CRA ] --HTTP--&gt; 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0099" y="2353866"/>
            <a:ext cx="73377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[ Express + JWT + CORS ] --SQL--&gt;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0099" y="2918103"/>
            <a:ext cx="73377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[ PostgreSQL (UTF-8) ]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0099" y="3482340"/>
            <a:ext cx="73377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Middleware: auth/role/error, logging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0099" y="4046577"/>
            <a:ext cx="73377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DB: users, books, borrows, favorites; enums role, bookType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0099" y="4610814"/>
            <a:ext cx="73377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Migrations + seeds + file mẫu tiếng Việt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205" y="1789628"/>
            <a:ext cx="5161598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713" y="2404705"/>
            <a:ext cx="4337090" cy="43370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0099" y="7249716"/>
            <a:ext cx="1305020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023" y="597098"/>
            <a:ext cx="611897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Dữ liệu &amp; Encoding (UTF-8 )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9023" y="1633299"/>
            <a:ext cx="487918" cy="487918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8441" y="1696522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1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63754" y="1707832"/>
            <a:ext cx="24098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PowerShell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754" y="2139077"/>
            <a:ext cx="1240762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chcp 65001, đặt $OutputEncoding UTF-8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9023" y="2919889"/>
            <a:ext cx="487918" cy="487918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8441" y="2983111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2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754" y="2999998"/>
            <a:ext cx="24098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PostgreSQL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754" y="3425666"/>
            <a:ext cx="1240762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DB ENCODING 'UTF8', psql \\encoding UTF8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9023" y="4206478"/>
            <a:ext cx="487918" cy="487918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8441" y="4269700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3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754" y="4281011"/>
            <a:ext cx="24098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API headers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754" y="4712256"/>
            <a:ext cx="1240762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application/json; charset=utf-8 (text: text/plain; charset=utf-8)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9023" y="5493068"/>
            <a:ext cx="487918" cy="487918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8441" y="5556290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4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754" y="5567601"/>
            <a:ext cx="24098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Frontend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754" y="5998845"/>
            <a:ext cx="1240762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&lt;meta charset="UTF-8"&gt;, font Inter/Roboto/Noto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9023" y="6779657"/>
            <a:ext cx="487918" cy="487918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8441" y="6842879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5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63754" y="6854190"/>
            <a:ext cx="24098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Regression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754" y="7285434"/>
            <a:ext cx="1240762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File uploads/book-contents/thu-nghiem-tieng-viet.txt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622" y="464820"/>
            <a:ext cx="3756541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Use Case và Quyền </a:t>
            </a:r>
            <a:endParaRPr lang="en-US" sz="2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1622" y="1001792"/>
            <a:ext cx="360604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Các Use case chính: từ UC01–UC11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1622" y="1536978"/>
            <a:ext cx="13447157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Đăng ký/đăng nhập, duyệt/xem sách,đọc online, yêu thích, mượn/trả, quản trị sách, quản trị user, thống kê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1622" y="2060972"/>
            <a:ext cx="225385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Ma trận quyền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1622" y="2596158"/>
            <a:ext cx="13447157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Hệ thống quy định rõ quyền hạn truy cập cho từng vai trò, đảm bảo an toàn và phân luồng chức năng rõ ràng.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1622" y="3056811"/>
            <a:ext cx="13447157" cy="4734639"/>
          </a:xfrm>
          <a:prstGeom prst="roundRect">
            <a:avLst>
              <a:gd name="adj" fmla="val 535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9242" y="3064431"/>
            <a:ext cx="13431917" cy="4883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429" y="3173373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Hành động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1791" y="3173373"/>
            <a:ext cx="99762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Khách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44935" y="3173373"/>
            <a:ext cx="99762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User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88079" y="3173373"/>
            <a:ext cx="99762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VIP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31223" y="3173373"/>
            <a:ext cx="997625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Admin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74367" y="3173373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Ghi chú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9242" y="3552825"/>
            <a:ext cx="13431917" cy="4960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429" y="3661767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Đăng ký/Đăng nhập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1791" y="3661767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44935" y="3661767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88079" y="3661767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31223" y="3661767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174367" y="3661767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9242" y="4048839"/>
            <a:ext cx="13431917" cy="496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429" y="4157782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Duyệt/Chi tiết sách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1791" y="4157782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44935" y="4157782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88079" y="4157782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31223" y="4157782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174367" y="4157782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9242" y="4544854"/>
            <a:ext cx="13431917" cy="4960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8429" y="4653796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Đọc trực tuyến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01791" y="4653796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44935" y="4653796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88079" y="4653796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31223" y="4653796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174367" y="4653796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Chỉ sách đọc trực tuyến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9242" y="5040868"/>
            <a:ext cx="13431917" cy="496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8429" y="5149810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Mượn sách giấy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01791" y="5149810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44935" y="5149810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88079" y="5149810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31223" y="5149810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174367" y="5149810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Kiểm tồn kho, chặn mượn trùng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9242" y="5536883"/>
            <a:ext cx="13431917" cy="4960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68429" y="5645825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Trả sách giấy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01791" y="5645825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44935" y="5645825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488079" y="5645825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831223" y="5645825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174367" y="5645825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99242" y="6032897"/>
            <a:ext cx="13431917" cy="7589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68429" y="6141839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CRUD Sách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01791" y="6141839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144935" y="6141839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488079" y="6141839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831223" y="6141839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174367" y="6141839"/>
            <a:ext cx="368784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Upload an toàn (MIME whitelist, sanitize, chặn macro)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99242" y="6791801"/>
            <a:ext cx="13431917" cy="4960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68429" y="6900743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Quản lý người dùng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801791" y="6900743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144935" y="6900743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488079" y="6900743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831223" y="6900743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174367" y="6900743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Ghi chú: Admin ≤ 3, VIP ≤ 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99242" y="7287816"/>
            <a:ext cx="13431917" cy="496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68429" y="7396758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Yêu thích (thêm/xóa/xem)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801791" y="7396758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❌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144935" y="7396758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488079" y="7396758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831223" y="7396758"/>
            <a:ext cx="9976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✔️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0174367" y="7396758"/>
            <a:ext cx="368784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UNIQUE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761" y="590788"/>
            <a:ext cx="6518553" cy="5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Triển khai nhanh (Quickstart)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1761" y="1724382"/>
            <a:ext cx="2386608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DB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1761" y="2264331"/>
            <a:ext cx="4025741" cy="5132784"/>
          </a:xfrm>
          <a:prstGeom prst="roundRect">
            <a:avLst>
              <a:gd name="adj" fmla="val 8004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1045" y="2264331"/>
            <a:ext cx="4047173" cy="5132784"/>
          </a:xfrm>
          <a:prstGeom prst="roundRect">
            <a:avLst>
              <a:gd name="adj" fmla="val 796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5834" y="2425422"/>
            <a:ext cx="3617595" cy="4810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chcp 65001psql -U postgres -c "CREATE DATABASE librarydb WITH ENCODING 'UTF8';"\encoding UTF8\i Source/backend_library/migrations/add_booktype_favorites.sql\i Source/backend_library/seeds/sample-books-online.sql\i Source/backend_library/seeds/update-book-content.sql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9235" y="1724382"/>
            <a:ext cx="2386608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Backend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09235" y="2264331"/>
            <a:ext cx="4025741" cy="1696641"/>
          </a:xfrm>
          <a:prstGeom prst="roundRect">
            <a:avLst>
              <a:gd name="adj" fmla="val 18991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98519" y="2264331"/>
            <a:ext cx="4047173" cy="1696641"/>
          </a:xfrm>
          <a:prstGeom prst="roundRect">
            <a:avLst>
              <a:gd name="adj" fmla="val 1899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13308" y="2425422"/>
            <a:ext cx="3617595" cy="137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cd .\Source\backend_librarynpm i &amp;&amp; copy .env.example .env# điền DB_*, JWT_SECRETnpm run dev # hoặc npm start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66709" y="1724382"/>
            <a:ext cx="2386608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Frontend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66709" y="2264331"/>
            <a:ext cx="4025741" cy="1696641"/>
          </a:xfrm>
          <a:prstGeom prst="roundRect">
            <a:avLst>
              <a:gd name="adj" fmla="val 18991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855994" y="2264331"/>
            <a:ext cx="4047173" cy="1696641"/>
          </a:xfrm>
          <a:prstGeom prst="roundRect">
            <a:avLst>
              <a:gd name="adj" fmla="val 1899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70783" y="2425422"/>
            <a:ext cx="3617595" cy="137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cd .\Source\frontend_librarynpm i &amp;&amp; copy .env.example .envnpm start# http://localhost:3000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362" y="630436"/>
            <a:ext cx="5728097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Kiểm thử (Plan &amp; Cases)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2362" y="1358860"/>
            <a:ext cx="13025676" cy="76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Mục tiêu: xác nhận hệ thống đáp ứng yêu cầu chức năng, phi chức năng và các quy tắc nghiệp vụ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2362" y="2466618"/>
            <a:ext cx="6398181" cy="1342192"/>
          </a:xfrm>
          <a:prstGeom prst="roundRect">
            <a:avLst>
              <a:gd name="adj" fmla="val 10900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1882" y="2466618"/>
            <a:ext cx="121920" cy="1342192"/>
          </a:xfrm>
          <a:prstGeom prst="roundRect">
            <a:avLst>
              <a:gd name="adj" fmla="val 28207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3478" y="2726293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AUTH-02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3478" y="3182303"/>
            <a:ext cx="5787390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login → 200 OK; nhận token + profile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9738" y="2466618"/>
            <a:ext cx="6398300" cy="1342192"/>
          </a:xfrm>
          <a:prstGeom prst="roundRect">
            <a:avLst>
              <a:gd name="adj" fmla="val 10900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99258" y="2466618"/>
            <a:ext cx="121920" cy="1342192"/>
          </a:xfrm>
          <a:prstGeom prst="roundRect">
            <a:avLst>
              <a:gd name="adj" fmla="val 282072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80853" y="2726293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BOOK-03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80853" y="3182303"/>
            <a:ext cx="578750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VIP/Admin đọc online → 200 OK; stream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2362" y="4038005"/>
            <a:ext cx="6398181" cy="1342192"/>
          </a:xfrm>
          <a:prstGeom prst="roundRect">
            <a:avLst>
              <a:gd name="adj" fmla="val 10900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1882" y="4038005"/>
            <a:ext cx="121920" cy="1342192"/>
          </a:xfrm>
          <a:prstGeom prst="roundRect">
            <a:avLst>
              <a:gd name="adj" fmla="val 282072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53478" y="4297680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BOOK-04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53478" y="4753689"/>
            <a:ext cx="5787390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User đọc  → 403 Forbidden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9738" y="4038005"/>
            <a:ext cx="6398300" cy="1342192"/>
          </a:xfrm>
          <a:prstGeom prst="roundRect">
            <a:avLst>
              <a:gd name="adj" fmla="val 10900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99258" y="4038005"/>
            <a:ext cx="121920" cy="1342192"/>
          </a:xfrm>
          <a:prstGeom prst="roundRect">
            <a:avLst>
              <a:gd name="adj" fmla="val 282072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80853" y="4297680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BRW-02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80853" y="4753689"/>
            <a:ext cx="578750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Mượn trùng → 400/409 lỗi chính sách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2362" y="5609392"/>
            <a:ext cx="6398181" cy="1342192"/>
          </a:xfrm>
          <a:prstGeom prst="roundRect">
            <a:avLst>
              <a:gd name="adj" fmla="val 10900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1882" y="5609392"/>
            <a:ext cx="121920" cy="1342192"/>
          </a:xfrm>
          <a:prstGeom prst="roundRect">
            <a:avLst>
              <a:gd name="adj" fmla="val 28207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3478" y="5869067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FAV-02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53478" y="6325076"/>
            <a:ext cx="5787390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Thêm trùng → ràng buộc 200/409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29738" y="5609392"/>
            <a:ext cx="6398300" cy="1342192"/>
          </a:xfrm>
          <a:prstGeom prst="roundRect">
            <a:avLst>
              <a:gd name="adj" fmla="val 10900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99258" y="5609392"/>
            <a:ext cx="121920" cy="1342192"/>
          </a:xfrm>
          <a:prstGeom prst="roundRect">
            <a:avLst>
              <a:gd name="adj" fmla="val 282072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80853" y="5869067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USR-01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80853" y="6325076"/>
            <a:ext cx="578750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Mở Danh sách user → 200 OK; trả list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2362" y="7295436"/>
            <a:ext cx="503158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Loại: Smoke ( Chạy nhanh các luồng chính)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116" y="432197"/>
            <a:ext cx="3600093" cy="43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KPI, Roadmap &amp; Rủi ro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9116" y="930831"/>
            <a:ext cx="2092047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KPI tham chiếu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9116" y="1427559"/>
            <a:ext cx="135321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≥95% API </a:t>
            </a:r>
            <a:r>
              <a:rPr lang="en-US" sz="120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&lt;300ms</a:t>
            </a: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(local), render online VIP </a:t>
            </a:r>
            <a:r>
              <a:rPr lang="en-US" sz="120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P95 ≤1.5s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9116" y="1854994"/>
            <a:ext cx="135321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Tỉ lệ lỗi encoding &lt; 1% sau khi chuẩn hóa UTF‑8 toàn hệ thống, −60% thời gian mượn/trả so với quy trình thủ công.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9116" y="2341245"/>
            <a:ext cx="217384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Roadmap (4 giai đoạn)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9116" y="3073241"/>
            <a:ext cx="6687622" cy="156805"/>
          </a:xfrm>
          <a:prstGeom prst="roundRect">
            <a:avLst>
              <a:gd name="adj" fmla="val 150101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5922" y="3386852"/>
            <a:ext cx="174343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Giai đoạn 1: Khởi tạo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5922" y="3698796"/>
            <a:ext cx="6374011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Khởi tạo hạ tầng cục bộ, cấu hình DB, chạy thử backend/frontend.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93543" y="2837974"/>
            <a:ext cx="6687741" cy="156805"/>
          </a:xfrm>
          <a:prstGeom prst="roundRect">
            <a:avLst>
              <a:gd name="adj" fmla="val 150101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50348" y="3151584"/>
            <a:ext cx="356473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Giai đoạn 2: Khởi tạo dữ liệu, Quyền truy cập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0348" y="3463528"/>
            <a:ext cx="637413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Nhập dữ liệu nền, thiết lập vai trò, tạo nhóm nội dung liên quan đến online.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9116" y="4498658"/>
            <a:ext cx="6687622" cy="156805"/>
          </a:xfrm>
          <a:prstGeom prst="roundRect">
            <a:avLst>
              <a:gd name="adj" fmla="val 150101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5922" y="4812268"/>
            <a:ext cx="25532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Giai đoạn 3: Thử nghiệm, Tối ưu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5922" y="5124212"/>
            <a:ext cx="6374011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Thử nghiệm người dùng, thu thập phản hồi, tối ưu hiệu năng, xử lý lỗi encoding.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93543" y="4263390"/>
            <a:ext cx="6687741" cy="156805"/>
          </a:xfrm>
          <a:prstGeom prst="roundRect">
            <a:avLst>
              <a:gd name="adj" fmla="val 150101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50348" y="4577001"/>
            <a:ext cx="174343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Giai đoạn 4: Tổng kết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50348" y="4888944"/>
            <a:ext cx="637413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Hoàn thiện dự án, tài liệu hướng dẫn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9116" y="5767268"/>
            <a:ext cx="2447806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Rủi ro và cách giảm thiểu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9116" y="6263997"/>
            <a:ext cx="135321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Rủi ro sai encoding: Lỗi hiển thị Tiếng Việt→ chuẩn hóa UTF‑8 toàn hệ thống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9116" y="6691432"/>
            <a:ext cx="135321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Rủi ro tài liệu: Rò rỉ nội dung →  hạn chế truy cập URL tĩnh áp dụng trực tiếp cho thư mục </a:t>
            </a:r>
            <a:r>
              <a:rPr lang="en-US" sz="1200" dirty="0">
                <a:solidFill>
                  <a:srgbClr val="E0E4E6"/>
                </a:solidFill>
                <a:highlight>
                  <a:srgbClr val="17152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uploads/book-contents</a:t>
            </a: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(chỉ VIP/ADMIN được xem nội dung online)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9116" y="7118866"/>
            <a:ext cx="135321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Rủi ro bảo mật: Upload độc hại → Dùng MIME whitelist (danh sách cho phép các loại tệp, sanitize ( làm sạch tệp tên)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9116" y="7546300"/>
            <a:ext cx="1353216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Rủi ro hiệu năng kém: N+1 → phân trang, chỉ mục, gộp truy vấn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009" y="651391"/>
            <a:ext cx="4089202" cy="51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Kết luận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4009" y="1236107"/>
            <a:ext cx="384571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Giá trị học thuật &amp; giá trị thực tiễn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4009" y="1818799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Thực hiện kiến trúc 3 tầng chuẩn, có phân quyền rõ, ERDchuẩn, use case đầy đủ, triển khai nhanh, có UTF 8 cho Tiếng Việt, Mức độ sẵn sàng luôn ổn định, dễ mở rộng.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4009" y="2389227"/>
            <a:ext cx="245352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Hạn chế hiện tại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4009" y="2971919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Chưa có pipeline CI/CD,build/deploy thủ công, kiểm thử tự động hóa còn ít, bảo mật, quan sát ở mức cơ bản, thiếu search không dấu.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4009" y="3542348"/>
            <a:ext cx="245352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Hướng phát triển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4009" y="4125039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Thiêm CI/CD, giảm rủi ro build tay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4009" y="4626412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Có kiểm thử tự động: Frontend có thể dùng Unit và E2E, Backend dùng Borrows, Auth ; snapshot cho encoding để phát hiện ký tự lỗi.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009" y="5127784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Container hóa để đồng nhất môi trường Docker Compose cho mạng nội bộ, reverse proxy + HTTPS khi muốn public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009" y="5629156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Về bảo mật: Thêm Audit log cho Admin thao tác để thay đổi vai trò, chính sách file dùm kiểm MIME thực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4009" y="6130528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Hiệu năng tối ưu index box, title, tránh lỗi N+1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009" y="6700957"/>
            <a:ext cx="245352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Kết lời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009" y="7283648"/>
            <a:ext cx="13342382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Theo chúng em, khung hệ thống đã vững cho môi trường cục bộ nếu có thể bổ sung CI/CD, tăng cường bảo mật + quan sát sẽ giúp dự án sẵn sàng vận hành thật 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1271</Words>
  <Application>Microsoft Office PowerPoint</Application>
  <PresentationFormat>Custom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Phung Vo Quoc Hien</cp:lastModifiedBy>
  <cp:revision>3</cp:revision>
  <dcterms:created xsi:type="dcterms:W3CDTF">2025-10-29T09:31:31Z</dcterms:created>
  <dcterms:modified xsi:type="dcterms:W3CDTF">2025-10-30T16:22:08Z</dcterms:modified>
</cp:coreProperties>
</file>